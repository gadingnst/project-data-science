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6C7"/>
                </a:solidFill>
                <a:latin typeface="Calibri"/>
              </a:defRPr>
            </a:pPr>
            <a:r>
              <a:t>Jurnal Teknologi Informasi dan Ilmu Komputer (JTIIK)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Optimalisasi Strategi Penjualan</a:t>
            </a:r>
            <a:br/>
            <a:r>
              <a:t>E-Commerce Buku Impor Periplus</a:t>
            </a:r>
            <a:br/>
            <a:r>
              <a:t>Menggunakan Pendekatan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48CAE4"/>
                </a:solidFill>
                <a:latin typeface="Calibri"/>
              </a:defRPr>
            </a:pPr>
            <a:r>
              <a:t>Manajemen Data, Analisis Regresi, Klasifikasi, dan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Rina Mardiana  •  Sutan Gading Fadhillah Nasution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Science (IF404) | Dosen Pengampu: Ir. Ahmad Chusyairi, M.Com., CDS., IPM., ASEAN 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Latar Belakang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Mengapa data science untuk e-commerce buku impor?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E-commerce buku impor di Indonesia tumbuh signifikan (Rp 500T+ transaksi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Periplus.com: pemain utama distribusi buku impor dengan ribuan judul internasional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Tantangan: fluktuasi kurs, variasi harga penerbit, biaya logistik, dinamika minat konsumen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Pendekatan data science mengubah data mentah menjadi actionable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Kebutuhan: data-driven decision making menggantikan keputusan berbasis intuisi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Tujuan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Menerapkan tata kelola data management melalui web scraping &amp;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Menganalisis korelasi antar variabel numerik (harga, diskon, stok)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Membangun model prediksi harga jual dengan regresi linier berganda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Melakukan segmentasi produk menggunakan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Klasifikasi produk menggunakan Decision Tree &amp; Random Forest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Metodologi: CRISP-DM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Cross-Industry Standard Process for Data Mining</a:t>
            </a:r>
          </a:p>
        </p:txBody>
      </p:sp>
      <p:pic>
        <p:nvPicPr>
          <p:cNvPr id="5" name="Picture 4" descr="crisp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Business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Konteks bisnis e-commerce buku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Web scraping 1.514 data mentah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Cleaning → 1.322 data bersih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Modeling &amp;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Regresi, clustering, klasifikasi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Evaluation &amp;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Evaluasi performa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32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Rekomendasi bisnis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Dataset: Periplus.com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Web scraping 8 kategori buku impor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2860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Mentah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1.514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Bersih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1.322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645920"/>
            <a:ext cx="228600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Kategori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228600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Atribut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21" name="Picture 20" descr="distribusi_kateg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5029200" cy="1743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Business &amp; Self-Help: 191 (14,4%)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Fiction &amp; Literature: 190 (14,4%)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770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Children's Books: 182 (13,8%)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611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Computer &amp; IT: 177 (13,4%)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45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Biographies &amp; Memoirs: 177 (13,4%)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Arts &amp; Photography: 175 (13,2%)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Cooking &amp; Food: 164 (12,4%)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97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Health &amp; Fitness: 66 (5,0%)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Statistika Deskriptif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Ringkasan numerik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Mean Harga Jual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376.616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Median Harga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299.000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46888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Std. Deviasi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263.249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4688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Rentang Harga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29.4K - 1.97M</a:t>
            </a:r>
          </a:p>
        </p:txBody>
      </p:sp>
      <p:pic>
        <p:nvPicPr>
          <p:cNvPr id="21" name="Picture 20" descr="distribusi_h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5029200" cy="17627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Distribusi positif skewed — beberapa buku kolektor berharga tinggi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Rata-rata diskon 8,0%, median 0,0% → mayoritas full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Diskon hingga 92% pada segmen produk tertentu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Strategi diskon Periplus bersifat selektif &amp; targeted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Analisis Korelasi Pearson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Hubungan antar variabel numerik</a:t>
            </a:r>
          </a:p>
        </p:txBody>
      </p:sp>
      <p:pic>
        <p:nvPicPr>
          <p:cNvPr id="5" name="Picture 4" descr="korelasi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43712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737360"/>
            <a:ext cx="502920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737360"/>
            <a:ext cx="5029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Harga Asli vs Harga Jual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 = 0,962  —  Positif sangat kuat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91840"/>
            <a:ext cx="502920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291840"/>
            <a:ext cx="502920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Diskon vs Harga Jual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749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 = -0,307  —  Negatif sedang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846320"/>
            <a:ext cx="502920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4846320"/>
            <a:ext cx="50292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Harga vs Stok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 = -0,429  —  Negatif sedang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Visualisasi Korelasi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Scatter plot hubungan variabel utama</a:t>
            </a:r>
          </a:p>
        </p:txBody>
      </p:sp>
      <p:pic>
        <p:nvPicPr>
          <p:cNvPr id="5" name="Picture 4" descr="scatter_korel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2486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Analisis Regresi Linier Berganda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Prediksi harga jual bersih</a:t>
            </a:r>
          </a:p>
        </p:txBody>
      </p:sp>
      <p:pic>
        <p:nvPicPr>
          <p:cNvPr id="5" name="Picture 4" descr="regresi_li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13702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24688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0,990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64592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Durbin-Watson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1,94</a:t>
            </a:r>
          </a:p>
        </p:txBody>
      </p:sp>
      <p:pic>
        <p:nvPicPr>
          <p:cNvPr id="14" name="Picture 13" descr="regress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5029200" cy="4410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Setiap kenaikan harga asli Rp 1.000 → harga jual naik Rp 964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53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Setiap kenaikan diskon 1% → harga turun Rp 3.756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9926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Konstanta Rp 14.971 = base price markup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315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99,0% variansi harga jual terjelaskan oleh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Segmentasi: K-Means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Pembagian katalog menjadi 3 kluster strategis</a:t>
            </a:r>
          </a:p>
        </p:txBody>
      </p:sp>
      <p:pic>
        <p:nvPicPr>
          <p:cNvPr id="5" name="Picture 4" descr="kmeans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18987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645920"/>
            <a:ext cx="4846320" cy="1371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73152" cy="137160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39424"/>
                </a:solidFill>
                <a:latin typeface="Calibri"/>
              </a:defRPr>
            </a:pPr>
            <a:r>
              <a:t>Budget &amp; Promo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197 (14,9%)  |  Avg: Rp 196.722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Diskon 44,3%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4846320" cy="1371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91840"/>
            <a:ext cx="73152" cy="13716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Standard Regular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1.013 (76,6%)  |  Avg: Rp 336.256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Diskon 1,5%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937760"/>
            <a:ext cx="4846320" cy="1371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937760"/>
            <a:ext cx="73152" cy="13716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D600"/>
                </a:solidFill>
                <a:latin typeface="Calibri"/>
              </a:defRPr>
            </a:pPr>
            <a:r>
              <a:t>Premium Collector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112 (8,5%)  |  Avg: Rp 1.058.080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Diskon 0,4%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ECC71"/>
                </a:solidFill>
                <a:latin typeface="Calibri"/>
              </a:defRPr>
            </a:pPr>
            <a:r>
              <a:t>Silhouette Score: 0,63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Evaluasi Jumlah Kluster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Elbow Method &amp; Silhouette Score</a:t>
            </a:r>
          </a:p>
        </p:txBody>
      </p:sp>
      <p:pic>
        <p:nvPicPr>
          <p:cNvPr id="5" name="Picture 4" descr="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32050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Klasifikasi Produk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Decision Tree vs Random Forest</a:t>
            </a:r>
          </a:p>
        </p:txBody>
      </p:sp>
      <p:pic>
        <p:nvPicPr>
          <p:cNvPr id="5" name="Picture 4" descr="klasifikas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1441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2860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98,1%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64592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98,5%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Feature Importance: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original_price_idr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74,8%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411480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discount_percent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25,2%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182880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in_stock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0,0%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120640"/>
            <a:ext cx="9144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303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6C7"/>
                </a:solidFill>
                <a:latin typeface="Calibri"/>
              </a:defRPr>
            </a:pPr>
            <a:r>
              <a:t>Metrik Evaluasi: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Precision (avg)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CC71"/>
                </a:solidFill>
                <a:latin typeface="Calibri"/>
              </a:defRPr>
            </a:pPr>
            <a:r>
              <a:t>0,99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Recall (avg)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CC71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F1-Score (avg)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CC71"/>
                </a:solidFill>
                <a:latin typeface="Calibri"/>
              </a:defRPr>
            </a:pPr>
            <a:r>
              <a:t>0,98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Data management: 1.514 data mentah → 1.322 data bersih siap analisis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Korelasi sangat kuat (r = 0,962) antara harga asli &amp; harga jual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Regresi linier berganda: R² = 0,990 — prediksi harga sangat akurat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K-Means: 3 kluster strategis (Budget, Standard, Premium) dengan Silhouette 0,63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Klasifikasi: Decision Tree 98,1%, Random Forest 98,5%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Big Data Analytics memberikan manfaat konkret bagi konsumen &amp; pengelola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Sistem real-time dengan Apache Kafka &amp; Spark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Market Basket Analysis (Apriori / FP-Growth) untuk cross-selling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Deep learning (Neural Collaborative Filtering) untuk rekomendasi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Sentiment analysis pada ulasan konsumen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C7"/>
                </a:solidFill>
                <a:latin typeface="Calibri"/>
              </a:defRPr>
            </a:pPr>
            <a:r>
              <a:t>Rina Mardiana  •  Sutan Gading Fadhillah Nasution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D600"/>
                </a:solidFill>
                <a:latin typeface="Calibri"/>
              </a:defRPr>
            </a:pPr>
            <a:r>
              <a:t>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