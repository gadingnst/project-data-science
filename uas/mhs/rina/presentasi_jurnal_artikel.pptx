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1A73E8"/>
                </a:solidFill>
                <a:latin typeface="Calibri"/>
              </a:defRPr>
            </a:pPr>
            <a:r>
              <a:t>Jurnal Teknologi Informasi dan Ilmu Komputer (JTIIK)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1A1A2E"/>
                </a:solidFill>
                <a:latin typeface="Calibri"/>
              </a:defRPr>
            </a:pPr>
            <a:r>
              <a:t>Optimalisasi Strategi Penjualan</a:t>
            </a:r>
            <a:br/>
            <a:r>
              <a:t>E-Commerce Buku Impor Periplus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291840"/>
            <a:ext cx="18288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4285F4"/>
                </a:solidFill>
                <a:latin typeface="Calibri"/>
              </a:defRPr>
            </a:pPr>
            <a:r>
              <a:t>Korelasi Pearson, Klasifikasi Decision Tree &amp; Random Forest, Big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A1A2E"/>
                </a:solidFill>
                <a:latin typeface="Calibri"/>
              </a:defRPr>
            </a:pPr>
            <a:r>
              <a:t>Rina Mardiana  •  Sutan Gading Fadhillah Nasution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66666"/>
                </a:solidFill>
                <a:latin typeface="Calibri"/>
              </a:defRPr>
            </a:pPr>
            <a:r>
              <a:t>Program Studi PJJ Informatika S1, Universitas Siber Asia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Dosen: Ir. Ahmad Chusyairi, M.Com., CDS., IPM., ASEAN Eng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73E8"/>
                </a:solidFill>
                <a:latin typeface="Calibri"/>
              </a:defRPr>
            </a:pPr>
            <a:r>
              <a:t>Latar Belakang Penelitian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66666"/>
                </a:solidFill>
                <a:latin typeface="Calibri"/>
              </a:defRPr>
            </a:pPr>
            <a:r>
              <a:t>Mengapa data science untuk e-commerce buku impor?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1A2E"/>
                </a:solidFill>
                <a:latin typeface="Calibri"/>
              </a:defRPr>
            </a:pPr>
            <a:r>
              <a:t>•  E-commerce buku impor Indonesia tumbuh signifikan — Rp 500T+ transaksi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1A2E"/>
                </a:solidFill>
                <a:latin typeface="Calibri"/>
              </a:defRPr>
            </a:pPr>
            <a:r>
              <a:t>•  Periplus.com: platform utama distribusi buku internasional di Indonesia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1A2E"/>
                </a:solidFill>
                <a:latin typeface="Calibri"/>
              </a:defRPr>
            </a:pPr>
            <a:r>
              <a:t>•  Tantangan: penetapan harga, segmentasi produk, manajemen inventaris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1A2E"/>
                </a:solidFill>
                <a:latin typeface="Calibri"/>
              </a:defRPr>
            </a:pPr>
            <a:r>
              <a:t>•  Pendekatan data science mengubah data mentah → actionable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1A2E"/>
                </a:solidFill>
                <a:latin typeface="Calibri"/>
              </a:defRPr>
            </a:pPr>
            <a:r>
              <a:t>•  Penelitian terdahulu: Han et al. (2012), Provost &amp; Fawcett (2013), McKinney (2017)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73E8"/>
                </a:solidFill>
                <a:latin typeface="Calibri"/>
              </a:defRPr>
            </a:pPr>
            <a:r>
              <a:t>Metodologi: CRISP-DM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66666"/>
                </a:solidFill>
                <a:latin typeface="Calibri"/>
              </a:defRPr>
            </a:pPr>
            <a:r>
              <a:t>Cross-Industry Standard Process for Data Mining</a:t>
            </a:r>
          </a:p>
        </p:txBody>
      </p:sp>
      <p:pic>
        <p:nvPicPr>
          <p:cNvPr id="5" name="Picture 4" descr="crisp_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029200" cy="4023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645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73E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Business Understanding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Konteks bisnis e-commerce buku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23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73E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423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Data Acquisition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697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Web scraping 1.514 data mentah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004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73E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200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Data Preparation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347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Cleaning → 1.322 data bersih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77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73E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977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Modeling &amp;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2519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Korelasi, regresi, clustering, klasifikasi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7548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73E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754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Evaluation &amp;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Evaluasi performa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5321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73E8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5532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1A2E"/>
                </a:solidFill>
                <a:latin typeface="Calibri"/>
              </a:defRPr>
            </a:pPr>
            <a:r>
              <a:t>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806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Rekomendasi bisnis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73E8"/>
                </a:solidFill>
                <a:latin typeface="Calibri"/>
              </a:defRPr>
            </a:pPr>
            <a:r>
              <a:t>Data Management &amp; Cleaning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66666"/>
                </a:solidFill>
                <a:latin typeface="Calibri"/>
              </a:defRPr>
            </a:pPr>
            <a:r>
              <a:t>Dari 1.514 data mentah ke 1.322 data bersih</a:t>
            </a:r>
          </a:p>
        </p:txBody>
      </p:sp>
      <p:pic>
        <p:nvPicPr>
          <p:cNvPr id="5" name="Picture 4" descr="outlier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463040"/>
            <a:ext cx="5303520" cy="16198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•  Konversi tipe data: hapus simbol Rp → float64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•  Standarisasi teks kolom title &amp; author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•  Eliminasi 192 rekaman duplikat &amp; invalid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•  Deteksi outlier: metode IQR (flagged, tidak dihapus)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•  Penanganan missing values: forward fill &amp; median imputation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2E"/>
                </a:solidFill>
                <a:latin typeface="Calibri"/>
              </a:defRPr>
            </a:pPr>
            <a:r>
              <a:t>•  Garbage in, garbage out — kualitas data = kualitas analisis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73E8"/>
                </a:solidFill>
                <a:latin typeface="Calibri"/>
              </a:defRPr>
            </a:pPr>
            <a:r>
              <a:t>Analisis Korelasi Pearson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66666"/>
                </a:solidFill>
                <a:latin typeface="Calibri"/>
              </a:defRPr>
            </a:pPr>
            <a:r>
              <a:t>Hubungan antar variabel numerik</a:t>
            </a:r>
          </a:p>
        </p:txBody>
      </p:sp>
      <p:pic>
        <p:nvPicPr>
          <p:cNvPr id="5" name="Picture 4" descr="korelasi_pea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303520" cy="46097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737360"/>
            <a:ext cx="5029200" cy="128016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0" y="1737360"/>
            <a:ext cx="5029200" cy="45720"/>
          </a:xfrm>
          <a:prstGeom prst="rect">
            <a:avLst/>
          </a:prstGeom>
          <a:solidFill>
            <a:srgbClr val="0D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874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Harga Asli vs Harga Jual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2194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r = 0,962  —  Positif sangat kuat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3291840"/>
            <a:ext cx="5029200" cy="128016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291840"/>
            <a:ext cx="5029200" cy="45720"/>
          </a:xfrm>
          <a:prstGeom prst="rect">
            <a:avLst/>
          </a:prstGeom>
          <a:solidFill>
            <a:srgbClr val="E871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3429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Diskon vs Harga Jual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7490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r = -0,307  —  Negatif sedang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4846320"/>
            <a:ext cx="5029200" cy="128016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4846320"/>
            <a:ext cx="5029200" cy="45720"/>
          </a:xfrm>
          <a:prstGeom prst="rect">
            <a:avLst/>
          </a:prstGeom>
          <a:solidFill>
            <a:srgbClr val="D93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49834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Harga vs Stok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53035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r = -0,429  —  Negatif sedang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73E8"/>
                </a:solidFill>
                <a:latin typeface="Calibri"/>
              </a:defRPr>
            </a:pPr>
            <a:r>
              <a:t>Visualisasi Korelasi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66666"/>
                </a:solidFill>
                <a:latin typeface="Calibri"/>
              </a:defRPr>
            </a:pPr>
            <a:r>
              <a:t>Scatter plot hubungan variabel utama</a:t>
            </a:r>
          </a:p>
        </p:txBody>
      </p:sp>
      <p:pic>
        <p:nvPicPr>
          <p:cNvPr id="5" name="Picture 4" descr="scatter_korel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144000" cy="24866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73E8"/>
                </a:solidFill>
                <a:latin typeface="Calibri"/>
              </a:defRPr>
            </a:pPr>
            <a:r>
              <a:t>Interpretasi Korelasi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66666"/>
                </a:solidFill>
                <a:latin typeface="Calibri"/>
              </a:defRPr>
            </a:pPr>
            <a:r>
              <a:t>Apa artinya untuk bisnis Periplus?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1A2E"/>
                </a:solidFill>
                <a:latin typeface="Calibri"/>
              </a:defRPr>
            </a:pPr>
            <a:r>
              <a:t>•  r = 0,962 (harga asli vs jual): kebijakan harga Periplus sangat proporsional dengan penerbit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1A2E"/>
                </a:solidFill>
                <a:latin typeface="Calibri"/>
              </a:defRPr>
            </a:pPr>
            <a:r>
              <a:t>•  Margin keuntungan Periplus relatif konsisten di seluruh rentang harga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1A2E"/>
                </a:solidFill>
                <a:latin typeface="Calibri"/>
              </a:defRPr>
            </a:pPr>
            <a:r>
              <a:t>•  r = -0,307 (diskon vs jual): diskon lebih sering di produk harga menengah ke bawah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1A2E"/>
                </a:solidFill>
                <a:latin typeface="Calibri"/>
              </a:defRPr>
            </a:pPr>
            <a:r>
              <a:t>•  Strategi loss leader pricing — diskon untuk mendorong volume penjualan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1A2E"/>
                </a:solidFill>
                <a:latin typeface="Calibri"/>
              </a:defRPr>
            </a:pPr>
            <a:r>
              <a:t>•  r = -0,429 (harga vs stok): buku mahal → stok rendah, meminimalkan holding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1A1A2E"/>
                </a:solidFill>
                <a:latin typeface="Calibri"/>
              </a:defRPr>
            </a:pPr>
            <a:r>
              <a:t>•  Manajemen inventaris proporsional terhadap risiko dead stock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73E8"/>
                </a:solidFill>
                <a:latin typeface="Calibri"/>
              </a:defRPr>
            </a:pPr>
            <a:r>
              <a:t>Klasifikasi: Decision Tree &amp; Random Forest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66666"/>
                </a:solidFill>
                <a:latin typeface="Calibri"/>
              </a:defRPr>
            </a:pPr>
            <a:r>
              <a:t>Prediksi kelas harga produk</a:t>
            </a:r>
          </a:p>
        </p:txBody>
      </p:sp>
      <p:pic>
        <p:nvPicPr>
          <p:cNvPr id="5" name="Picture 4" descr="klasifikasi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5303520" cy="14411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17920" y="1645920"/>
            <a:ext cx="2286000" cy="109728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2286000" cy="457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Decision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98,1%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1645920"/>
            <a:ext cx="2286000" cy="109728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0" y="1645920"/>
            <a:ext cx="2286000" cy="45720"/>
          </a:xfrm>
          <a:prstGeom prst="rect">
            <a:avLst/>
          </a:prstGeom>
          <a:solidFill>
            <a:srgbClr val="0D9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A2E"/>
                </a:solidFill>
                <a:latin typeface="Calibri"/>
              </a:defRPr>
            </a:pPr>
            <a:r>
              <a:t>98,5%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A73E8"/>
                </a:solidFill>
                <a:latin typeface="Calibri"/>
              </a:defRPr>
            </a:pPr>
            <a:r>
              <a:t>Feature Importance: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1A1A2E"/>
                </a:solidFill>
                <a:latin typeface="Calibri"/>
              </a:defRPr>
            </a:pPr>
            <a:r>
              <a:t>original_price_idr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35661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t>74,8%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411480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1A1A2E"/>
                </a:solidFill>
                <a:latin typeface="Calibri"/>
              </a:defRPr>
            </a:pPr>
            <a:r>
              <a:t>discount_percent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4206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t>25,2%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480560"/>
            <a:ext cx="1828800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1A1A2E"/>
                </a:solidFill>
                <a:latin typeface="Calibri"/>
              </a:defRPr>
            </a:pPr>
            <a:r>
              <a:t>in_stock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48463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t>0,0%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3035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A73E8"/>
                </a:solidFill>
                <a:latin typeface="Calibri"/>
              </a:defRPr>
            </a:pPr>
            <a:r>
              <a:t>Metrik Evaluasi: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669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Precision (avg)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669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t>0,98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5669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D904F"/>
                </a:solidFill>
                <a:latin typeface="Calibri"/>
              </a:defRPr>
            </a:pPr>
            <a:r>
              <a:t>0,99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989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Recall (avg)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5989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t>0,98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5989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D904F"/>
                </a:solidFill>
                <a:latin typeface="Calibri"/>
              </a:defRPr>
            </a:pPr>
            <a:r>
              <a:t>0,98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6309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F1-Score (avg)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t>0,98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6309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0D904F"/>
                </a:solidFill>
                <a:latin typeface="Calibri"/>
              </a:defRPr>
            </a:pPr>
            <a:r>
              <a:t>0,98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73E8"/>
                </a:solidFill>
                <a:latin typeface="Calibri"/>
              </a:defRPr>
            </a:pPr>
            <a:r>
              <a:t>Perkembangan Big Data &amp; Manfaat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666666"/>
                </a:solidFill>
                <a:latin typeface="Calibri"/>
              </a:defRPr>
            </a:pPr>
            <a:r>
              <a:t>5V of Big Data dalam konteks e-commerce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011680" cy="13716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0116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A73E8"/>
                </a:solidFill>
                <a:latin typeface="Calibri"/>
              </a:defRPr>
            </a:pPr>
            <a:r>
              <a:t>Volume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Ribuan produk</a:t>
            </a:r>
            <a:br/>
            <a:r>
              <a:t>&amp; transaksi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645920"/>
            <a:ext cx="2011680" cy="13716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1645920"/>
            <a:ext cx="20116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A73E8"/>
                </a:solidFill>
                <a:latin typeface="Calibri"/>
              </a:defRPr>
            </a:pPr>
            <a:r>
              <a:t>Velocity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194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Update katalog</a:t>
            </a:r>
            <a:br/>
            <a:r>
              <a:t>real-time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645920"/>
            <a:ext cx="2011680" cy="13716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645920"/>
            <a:ext cx="20116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A73E8"/>
                </a:solidFill>
                <a:latin typeface="Calibri"/>
              </a:defRPr>
            </a:pPr>
            <a:r>
              <a:t>Variety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194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Multi-source</a:t>
            </a:r>
            <a:br/>
            <a:r>
              <a:t>data format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1645920"/>
            <a:ext cx="2011680" cy="13716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645920"/>
            <a:ext cx="20116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A73E8"/>
                </a:solidFill>
                <a:latin typeface="Calibri"/>
              </a:defRPr>
            </a:pPr>
            <a:r>
              <a:t>Veracity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194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Data quality</a:t>
            </a:r>
            <a:br/>
            <a:r>
              <a:t>assurance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645920"/>
            <a:ext cx="2011680" cy="137160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1645920"/>
            <a:ext cx="201168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1783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A73E8"/>
                </a:solidFill>
                <a:latin typeface="Calibri"/>
              </a:defRPr>
            </a:pPr>
            <a:r>
              <a:t>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21945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Actionable</a:t>
            </a:r>
            <a:br/>
            <a:r>
              <a:t>insights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D904F"/>
                </a:solidFill>
                <a:latin typeface="Calibri"/>
              </a:defRPr>
            </a:pPr>
            <a:r>
              <a:t>Manfaat bagi Konsumen: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→  Transparansi harga &amp; identifikasi promo terbaik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343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→  Rekomendasi personal berbasis clustering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→  Prediksi rentang harga wajar per kategori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1A73E8"/>
                </a:solidFill>
                <a:latin typeface="Calibri"/>
              </a:defRPr>
            </a:pPr>
            <a:r>
              <a:t>Manfaat bagi Pengelola: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→  Efisiensi inventaris &amp; optimasi reorder 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343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→  Dynamic pricing berbasis model prediksi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1A2E"/>
                </a:solidFill>
                <a:latin typeface="Calibri"/>
              </a:defRPr>
            </a:pPr>
            <a:r>
              <a:t>→  Targeted marketing per segmen kluster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73E8"/>
                </a:solidFill>
                <a:latin typeface="Calibri"/>
              </a:defRPr>
            </a:pPr>
            <a:r>
              <a:t>Kesimpulan &amp; Saran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3716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1A1A2E"/>
                </a:solidFill>
                <a:latin typeface="Calibri"/>
              </a:defRPr>
            </a:pPr>
            <a:r>
              <a:t>•  Korelasi sangat kuat (r = 0,962) antara harga asli &amp; harga jual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1A1A2E"/>
                </a:solidFill>
                <a:latin typeface="Calibri"/>
              </a:defRPr>
            </a:pPr>
            <a:r>
              <a:t>•  Klasifikasi: Decision Tree 98,1%, Random Forest 98,5%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1A1A2E"/>
                </a:solidFill>
                <a:latin typeface="Calibri"/>
              </a:defRPr>
            </a:pPr>
            <a:r>
              <a:t>•  Feature importance: original_price 74,8%, discount 25,2%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1A1A2E"/>
                </a:solidFill>
                <a:latin typeface="Calibri"/>
              </a:defRPr>
            </a:pPr>
            <a:r>
              <a:t>•  Big Data 5V memberikan framework evaluasi implementasi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1A1A2E"/>
                </a:solidFill>
                <a:latin typeface="Calibri"/>
              </a:defRPr>
            </a:pPr>
            <a:r>
              <a:t>•  Saran: real-time system, market basket analysis, deep learning, sentiment analysis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1A1A2E"/>
                </a:solidFill>
                <a:latin typeface="Calibri"/>
              </a:defRPr>
            </a:pPr>
            <a:r>
              <a:t>Terima Kasih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1828800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73E8"/>
                </a:solidFill>
                <a:latin typeface="Calibri"/>
              </a:defRPr>
            </a:pPr>
            <a:r>
              <a:t>Rina Mardiana  •  Sutan Gading Fadhillah Nasution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66666"/>
                </a:solidFill>
                <a:latin typeface="Calibri"/>
              </a:defRPr>
            </a:pPr>
            <a:r>
              <a:t>Program Studi PJJ Informatika S1, Universitas Siber Asia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C48A00"/>
                </a:solidFill>
                <a:latin typeface="Calibri"/>
              </a:defRPr>
            </a:pPr>
            <a:r>
              <a:t>Sesi Tanya Jawab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