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2ECC71"/>
                </a:solidFill>
                <a:latin typeface="Calibri"/>
              </a:defRPr>
            </a:pPr>
            <a:r>
              <a:t>Proyek Data Science — UAS IF404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FFFFF"/>
                </a:solidFill>
                <a:latin typeface="Calibri"/>
              </a:defRPr>
            </a:pPr>
            <a:r>
              <a:t>Analisis Data E-Commerce</a:t>
            </a:r>
            <a:br/>
            <a:r>
              <a:t>Buku Impor Periplus.com</a:t>
            </a:r>
            <a:br/>
            <a:r>
              <a:t>Dengan Pendekatan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18288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48CAE4"/>
                </a:solidFill>
                <a:latin typeface="Calibri"/>
              </a:defRPr>
            </a:pPr>
            <a:r>
              <a:t>Web Scraping, Data Management, Machine Learning &amp; Business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Sutan Gading Fadhillah Nasution  •  Rina Mardiana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Program Studi PJJ Informatika S1, Universitas Siber Asia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Data Science (IF404) | Dosen Pengampu: Ir. Ahmad Chusyairi, M.Com., CDS., IPM., ASEAN Eng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Overview Proyek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Apa yang kami bangun dan mengapa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Studi kasus: platform e-commerce buku impor Periplus.com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Tujuan: ekstraksi insights bisnis dari data katalog produk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Pipeline end-to-end: scraping → cleaning → analisis → modeling →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Tech stack: Python, Pandas, Scikit-learn, Matplotlib, BeautifulSoup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Output: artikel ilmiah JTIIK, Jupyter notebook, visualisasi interaktif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Pipeline Data Science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Alur kerja proyek berbasis CRISP-DM</a:t>
            </a:r>
          </a:p>
        </p:txBody>
      </p:sp>
      <p:pic>
        <p:nvPicPr>
          <p:cNvPr id="5" name="Picture 4" descr="crisp_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463040"/>
            <a:ext cx="59436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Data Acquisition: Web Scraping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Mengumpulkan data dari Periplus.com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28600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Halaman Discrape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8 Kategori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645920"/>
            <a:ext cx="228600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2286000" cy="45720"/>
          </a:xfrm>
          <a:prstGeom prst="rect">
            <a:avLst/>
          </a:prstGeom>
          <a:solidFill>
            <a:srgbClr val="F39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Data Mentah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1.514 Rows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645920"/>
            <a:ext cx="228600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1645920"/>
            <a:ext cx="22860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Data Bersih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1.322 Rows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645920"/>
            <a:ext cx="228600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1645920"/>
            <a:ext cx="2286000" cy="457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Atribut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9 Kolom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Tools: Python requests + BeautifulSoup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03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Rate limiting &amp; user-agent rotation untuk menghormati kebijakan akses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Atribut: title, author, binding, in_stock, category, product_url, price, original_price, discount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09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•  Data disimpan dalam format CSV untuk reproducibility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Data Management &amp; Cleaning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Dari data mentah ke data siap analisis</a:t>
            </a:r>
          </a:p>
        </p:txBody>
      </p:sp>
      <p:pic>
        <p:nvPicPr>
          <p:cNvPr id="5" name="Picture 4" descr="outlier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303520" cy="16198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•  Konversi tipe data: hapus simbol Rp &amp; titik ribuan → float64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•  Standarisasi teks: kolom title &amp; author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•  Hapus 192 rekaman duplikat &amp; invalid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•  Deteksi outlier: metode IQR (flagged, tidak dihapus)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•  Penanganan missing values: forward fill &amp; median imputation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•  Hasil: 1.322 baris data bersih tanpa null/NaN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Distribusi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Kategori &amp; harga produk</a:t>
            </a:r>
          </a:p>
        </p:txBody>
      </p:sp>
      <p:pic>
        <p:nvPicPr>
          <p:cNvPr id="5" name="Picture 4" descr="distribusi_katego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669280" cy="1965350"/>
          </a:xfrm>
          <a:prstGeom prst="rect">
            <a:avLst/>
          </a:prstGeom>
        </p:spPr>
      </p:pic>
      <p:pic>
        <p:nvPicPr>
          <p:cNvPr id="6" name="Picture 5" descr="distribusi_har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669280" cy="19871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Analisis Korelasi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Heatmap &amp; scatter plot</a:t>
            </a:r>
          </a:p>
        </p:txBody>
      </p:sp>
      <p:pic>
        <p:nvPicPr>
          <p:cNvPr id="5" name="Picture 4" descr="korelasi_pea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669280" cy="4927610"/>
          </a:xfrm>
          <a:prstGeom prst="rect">
            <a:avLst/>
          </a:prstGeom>
        </p:spPr>
      </p:pic>
      <p:pic>
        <p:nvPicPr>
          <p:cNvPr id="6" name="Picture 5" descr="scatter_korela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669280" cy="15417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Model Regresi Linier Berganda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Prediksi harga jual bersih</a:t>
            </a:r>
          </a:p>
        </p:txBody>
      </p:sp>
      <p:pic>
        <p:nvPicPr>
          <p:cNvPr id="5" name="Picture 4" descr="regresi_lin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029200" cy="137023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645920"/>
            <a:ext cx="246888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645920"/>
            <a:ext cx="24688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R²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0,990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645920"/>
            <a:ext cx="246888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1645920"/>
            <a:ext cx="246888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Durbin-Watson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1,94</a:t>
            </a:r>
          </a:p>
        </p:txBody>
      </p:sp>
      <p:pic>
        <p:nvPicPr>
          <p:cNvPr id="14" name="Picture 13" descr="regression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017520"/>
            <a:ext cx="5029200" cy="44108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60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→  +Rp 1.000 harga asli → +Rp 964 harga jual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5537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→  +1% diskon → -Rp 3.756 harga jual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99262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→  Konstanta Rp 14.971 (base markup)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4315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→  Residual normal, tidak ada autokorelasi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K-Means Clustering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Segmentasi produk menjadi 3 kluster</a:t>
            </a:r>
          </a:p>
        </p:txBody>
      </p:sp>
      <p:pic>
        <p:nvPicPr>
          <p:cNvPr id="5" name="Picture 4" descr="kmeans_clus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669280" cy="2029683"/>
          </a:xfrm>
          <a:prstGeom prst="rect">
            <a:avLst/>
          </a:prstGeom>
        </p:spPr>
      </p:pic>
      <p:pic>
        <p:nvPicPr>
          <p:cNvPr id="6" name="Picture 5" descr="elbow_silhou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669280" cy="19871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ECC71"/>
                </a:solidFill>
                <a:latin typeface="Calibri"/>
              </a:defRPr>
            </a:pPr>
            <a:r>
              <a:t>Silhouette Score: 0,63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Detail Kluster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Karakteristik setiap segmen pasar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41148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73152"/>
          </a:xfrm>
          <a:prstGeom prst="rect">
            <a:avLst/>
          </a:prstGeom>
          <a:solidFill>
            <a:srgbClr val="F39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39424"/>
                </a:solidFill>
                <a:latin typeface="Calibri"/>
              </a:defRPr>
            </a:pPr>
            <a:r>
              <a:t>Budget &amp; Promo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197 item (14,9%)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Avg: Rp 196.722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Diskon: 44,3%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Buku populer dalam diskon agresif, termasuk anak-anak dan komik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474720" cy="41148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347472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96C7"/>
                </a:solidFill>
                <a:latin typeface="Calibri"/>
              </a:defRPr>
            </a:pPr>
            <a:r>
              <a:t>Standard Regular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377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1.013 item (76,6%)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743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Avg: Rp 336.256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108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Diskon: 1,5%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6576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Tulang punggung pendapatan — novel, bisnis, referensi reguler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45920"/>
            <a:ext cx="3474720" cy="41148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645920"/>
            <a:ext cx="3474720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D600"/>
                </a:solidFill>
                <a:latin typeface="Calibri"/>
              </a:defRPr>
            </a:pPr>
            <a:r>
              <a:t>Premium Collector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377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112 item (8,5%)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743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Avg: Rp 1.058.080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108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Diskon: 0,4%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6576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CCCCC"/>
                </a:solidFill>
                <a:latin typeface="Calibri"/>
              </a:defRPr>
            </a:pPr>
            <a:r>
              <a:t>Buku referensi premium, ensiklopedia, edisi kolektor langka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Klasifikasi: Decision Tree &amp; Random Forest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Prediksi kelas harga produk</a:t>
            </a:r>
          </a:p>
        </p:txBody>
      </p:sp>
      <p:pic>
        <p:nvPicPr>
          <p:cNvPr id="5" name="Picture 4" descr="klasifikasi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303520" cy="14411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0" y="1645920"/>
            <a:ext cx="228600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228600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Decision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98,1%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1645920"/>
            <a:ext cx="228600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0" y="1645920"/>
            <a:ext cx="22860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98,5%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96C7"/>
                </a:solidFill>
                <a:latin typeface="Calibri"/>
              </a:defRPr>
            </a:pPr>
            <a:r>
              <a:t>Feature Importance: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FFFFFF"/>
                </a:solidFill>
                <a:latin typeface="Calibri"/>
              </a:defRPr>
            </a:pPr>
            <a:r>
              <a:t>original_price_idr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566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74,8%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4114800" cy="13716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FFFFFF"/>
                </a:solidFill>
                <a:latin typeface="Calibri"/>
              </a:defRPr>
            </a:pPr>
            <a:r>
              <a:t>discount_percent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4206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25,2%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80560"/>
            <a:ext cx="1828800" cy="13716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FFFFFF"/>
                </a:solidFill>
                <a:latin typeface="Calibri"/>
              </a:defRPr>
            </a:pPr>
            <a:r>
              <a:t>in_stock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4846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0,0%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120640"/>
            <a:ext cx="91440" cy="13716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96C7"/>
                </a:solidFill>
                <a:latin typeface="Calibri"/>
              </a:defRPr>
            </a:pPr>
            <a:r>
              <a:t>Business Insights &amp; Rekomendasi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CCCCC"/>
                </a:solidFill>
                <a:latin typeface="Calibri"/>
              </a:defRPr>
            </a:pPr>
            <a:r>
              <a:t>Nilai bisnis dari analisis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ECC71"/>
                </a:solidFill>
                <a:latin typeface="Calibri"/>
              </a:defRPr>
            </a:pPr>
            <a:r>
              <a:t>Bagi Konsumen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Transparansi harga &amp; identifikasi promo terbaik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Rekomendasi personal berbasis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Prediksi rentang harga wajar per kategori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96C7"/>
                </a:solidFill>
                <a:latin typeface="Calibri"/>
              </a:defRPr>
            </a:pPr>
            <a:r>
              <a:t>Bagi Pengelola E-Commerce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Efisiensi inventaris &amp; optimasi reorder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Dynamic pricing berbasis model regresi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08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Targeted marketing per segmen kluster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D600"/>
                </a:solidFill>
                <a:latin typeface="Calibri"/>
              </a:defRPr>
            </a:pPr>
            <a:r>
              <a:t>Big Data 5V dalam E-Commerce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63440"/>
            <a:ext cx="2011680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D600"/>
                </a:solidFill>
                <a:latin typeface="Calibri"/>
              </a:defRPr>
            </a:pPr>
            <a:r>
              <a:t>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Ribuan produk &amp; transaksi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4663440"/>
            <a:ext cx="2011680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D600"/>
                </a:solidFill>
                <a:latin typeface="Calibri"/>
              </a:defRPr>
            </a:pPr>
            <a:r>
              <a:t>Velocity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Update real-time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4663440"/>
            <a:ext cx="2011680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D600"/>
                </a:solidFill>
                <a:latin typeface="Calibri"/>
              </a:defRPr>
            </a:pPr>
            <a:r>
              <a:t>Variety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Multi-source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4663440"/>
            <a:ext cx="2011680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D600"/>
                </a:solidFill>
                <a:latin typeface="Calibri"/>
              </a:defRPr>
            </a:pPr>
            <a:r>
              <a:t>Veracity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Data quality assurance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4663440"/>
            <a:ext cx="2011680" cy="1188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D600"/>
                </a:solidFill>
                <a:latin typeface="Calibri"/>
              </a:defRPr>
            </a:pPr>
            <a:r>
              <a:t>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Actionable insights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18288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ECC71"/>
                </a:solidFill>
                <a:latin typeface="Calibri"/>
              </a:defRPr>
            </a:pPr>
            <a:r>
              <a:t>Sutan Gading Fadhillah Nasution  •  Rina Mardiana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Calibri"/>
              </a:defRPr>
            </a:pPr>
            <a:r>
              <a:t>Program Studi PJJ Informatika S1, Universitas Siber Asia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D600"/>
                </a:solidFill>
                <a:latin typeface="Calibri"/>
              </a:defRPr>
            </a:pPr>
            <a:r>
              <a:t>Sesi Tanya Jawab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